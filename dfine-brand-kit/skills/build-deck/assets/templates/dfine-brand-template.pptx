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20"/>
    <p:sldId id="258" r:id="rId21"/>
    <p:sldId id="259" r:id="rId22"/>
    <p:sldId id="260" r:id="rId23"/>
    <p:sldId id="261" r:id="rId24"/>
    <p:sldId id="262" r:id="rId25"/>
  </p:sldIdLst>
  <p:sldSz cx="12192000" cy="6858000"/>
  <p:notesSz cx="6858000" cy="12192000"/>
  <p:embeddedFontLst>
    <p:embeddedFont>
      <p:font typeface="Avenir" panose="02000503020000020003" pitchFamily="2" charset="0"/>
      <p:regular r:id="rId9"/>
      <p:italic r:id="rId10"/>
    </p:embeddedFont>
    <p:embeddedFont>
      <p:font typeface="Bricolage Grotesque 14pt Medium" panose="020B0605040402000204" pitchFamily="3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9" Type="http://schemas.openxmlformats.org/officeDocument/2006/relationships/font" Target="fonts/font1.fntdata"/><Relationship Id="rId14" Type="http://schemas.openxmlformats.org/officeDocument/2006/relationships/theme" Target="theme/them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37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arlet-tree (1)">
            <a:hlinkClick r:id="" action="ppaction://media"/>
            <a:extLst>
              <a:ext uri="{FF2B5EF4-FFF2-40B4-BE49-F238E27FC236}">
                <a16:creationId xmlns:a16="http://schemas.microsoft.com/office/drawing/2014/main" id="{7A2CA53F-1675-F5AA-346C-66409CCEA3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6000" y="0"/>
            <a:ext cx="6509657" cy="6509657"/>
          </a:xfrm>
          <a:prstGeom prst="rect">
            <a:avLst/>
          </a:prstGeom>
        </p:spPr>
      </p:pic>
      <p:pic>
        <p:nvPicPr>
          <p:cNvPr id="2" name="Image 0" descr="dfine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01" y="658368"/>
            <a:ext cx="1737360" cy="7175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701" y="2002972"/>
            <a:ext cx="546129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600" b="1" kern="0" spc="-5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One living map of your entire network.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634701" y="50074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Dfine · brand template v1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5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3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91640" y="1965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679192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502152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4325112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434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we're showing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5148072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5257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Next steps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46304" cy="2194560"/>
          </a:xfrm>
          <a:prstGeom prst="rect">
            <a:avLst/>
          </a:prstGeom>
          <a:solidFill>
            <a:srgbClr val="7A8BF7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219456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spc="-5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One living map of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spc="-5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your entire network.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280160" y="4800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Supporting line — one sentence of context in Avenir.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8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3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Key metrics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-100" kern="0" dirty="0">
                <a:solidFill>
                  <a:srgbClr val="4F8975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98%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Network coverage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-100" kern="0" dirty="0">
                <a:solidFill>
                  <a:srgbClr val="7A8BF7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3.2k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794760" y="3703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Assets mapped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-10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12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766560" y="3703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Integrations live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38360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-100" kern="0" dirty="0">
                <a:solidFill>
                  <a:srgbClr val="E8A58F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&lt; 5 min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738360" y="3703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Time to first map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8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3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See it in the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64592" cy="164592"/>
          </a:xfrm>
          <a:prstGeom prst="ellipse">
            <a:avLst/>
          </a:prstGeom>
          <a:solidFill>
            <a:srgbClr val="4F897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Live 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whole network, discovered and drawn as it changes.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164592" cy="164592"/>
          </a:xfrm>
          <a:prstGeom prst="ellipse">
            <a:avLst/>
          </a:prstGeom>
          <a:solidFill>
            <a:srgbClr val="7A8BF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7947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Objective-driven paths, critical assets, blast radius.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800600"/>
            <a:ext cx="164592" cy="164592"/>
          </a:xfrm>
          <a:prstGeom prst="ellipse">
            <a:avLst/>
          </a:prstGeom>
          <a:solidFill>
            <a:srgbClr val="E8A58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63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Simulate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029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Rehearse changes safely in a high-fidelity twin.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1488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148840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313432"/>
            <a:ext cx="128016" cy="128016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9672" y="2313432"/>
            <a:ext cx="128016" cy="128016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75704" y="2313432"/>
            <a:ext cx="128016" cy="128016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60604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Screenshot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8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3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Where we're headed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606040"/>
            <a:ext cx="102412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2505456"/>
            <a:ext cx="201168" cy="201168"/>
          </a:xfrm>
          <a:prstGeom prst="ellipse">
            <a:avLst/>
          </a:prstGeom>
          <a:solidFill>
            <a:srgbClr val="4F89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914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9016" y="2505456"/>
            <a:ext cx="201168" cy="201168"/>
          </a:xfrm>
          <a:prstGeom prst="ellipse">
            <a:avLst/>
          </a:prstGeom>
          <a:solidFill>
            <a:srgbClr val="7A8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2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2232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32776" y="2505456"/>
            <a:ext cx="201168" cy="201168"/>
          </a:xfrm>
          <a:prstGeom prst="ellipse">
            <a:avLst/>
          </a:prstGeom>
          <a:solidFill>
            <a:srgbClr val="3C68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89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608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146536" y="2505456"/>
            <a:ext cx="201168" cy="201168"/>
          </a:xfrm>
          <a:prstGeom prst="ellipse">
            <a:avLst/>
          </a:prstGeom>
          <a:solidFill>
            <a:srgbClr val="E8A5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498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Scale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0" y="3977640"/>
            <a:ext cx="0" cy="182880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411480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4F897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36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4681728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7A8BF7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029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40880" y="5248656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C685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8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30" kern="0" dirty="0">
                <a:solidFill>
                  <a:srgbClr val="26263B"/>
                </a:solidFill>
                <a:latin typeface="Bricolage Grotesque 14pt Medium" pitchFamily="34" charset="0"/>
                <a:ea typeface="Bricolage Grotesque 14pt Medium" pitchFamily="34" charset="-122"/>
                <a:cs typeface="Bricolage Grotesque 14pt Medium" pitchFamily="34" charset="-120"/>
              </a:rPr>
              <a:t>Status tracker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947672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3B"/>
                          </a:solidFill>
                          <a:latin typeface="Bricolage Grotesque 14pt Medium" pitchFamily="34" charset="0"/>
                          <a:ea typeface="Bricolage Grotesque 14pt Medium" pitchFamily="34" charset="-122"/>
                          <a:cs typeface="Bricolage Grotesque 14pt Medium" pitchFamily="34" charset="-120"/>
                        </a:rPr>
                        <a:t>Item</a:t>
                      </a:r>
                      <a:endParaRPr lang="en-US" sz="1300" dirty="0">
                        <a:latin typeface="Bricolage Grotesque 14pt Medium" charset="0"/>
                        <a:ea typeface="Bricolage Grotesque 14pt Medium" charset="0"/>
                        <a:cs typeface="Bricolage Grotesque 14pt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3B"/>
                          </a:solidFill>
                          <a:latin typeface="Bricolage Grotesque 14pt Medium" pitchFamily="34" charset="0"/>
                          <a:ea typeface="Bricolage Grotesque 14pt Medium" pitchFamily="34" charset="-122"/>
                          <a:cs typeface="Bricolage Grotesque 14pt Medium" pitchFamily="34" charset="-120"/>
                        </a:rPr>
                        <a:t>Owner</a:t>
                      </a:r>
                      <a:endParaRPr lang="en-US" sz="1300" dirty="0">
                        <a:latin typeface="Bricolage Grotesque 14pt Medium" charset="0"/>
                        <a:ea typeface="Bricolage Grotesque 14pt Medium" charset="0"/>
                        <a:cs typeface="Bricolage Grotesque 14pt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3B"/>
                          </a:solidFill>
                          <a:latin typeface="Bricolage Grotesque 14pt Medium" pitchFamily="34" charset="0"/>
                          <a:ea typeface="Bricolage Grotesque 14pt Medium" pitchFamily="34" charset="-122"/>
                          <a:cs typeface="Bricolage Grotesque 14pt Medium" pitchFamily="34" charset="-120"/>
                        </a:rPr>
                        <a:t>Target date</a:t>
                      </a:r>
                      <a:endParaRPr lang="en-US" sz="1300" dirty="0">
                        <a:latin typeface="Bricolage Grotesque 14pt Medium" charset="0"/>
                        <a:ea typeface="Bricolage Grotesque 14pt Medium" charset="0"/>
                        <a:cs typeface="Bricolage Grotesque 14pt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3B"/>
                          </a:solidFill>
                          <a:latin typeface="Bricolage Grotesque 14pt Medium" pitchFamily="34" charset="0"/>
                          <a:ea typeface="Bricolage Grotesque 14pt Medium" pitchFamily="34" charset="-122"/>
                          <a:cs typeface="Bricolage Grotesque 14pt Medium" pitchFamily="34" charset="-120"/>
                        </a:rPr>
                        <a:t>Status</a:t>
                      </a:r>
                      <a:endParaRPr lang="en-US" sz="1300" dirty="0">
                        <a:latin typeface="Bricolage Grotesque 14pt Medium" charset="0"/>
                        <a:ea typeface="Bricolage Grotesque 14pt Medium" charset="0"/>
                        <a:cs typeface="Bricolage Grotesque 14pt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3B"/>
                          </a:solidFill>
                          <a:latin typeface="Bricolage Grotesque 14pt Medium" pitchFamily="34" charset="0"/>
                          <a:ea typeface="Bricolage Grotesque 14pt Medium" pitchFamily="34" charset="-122"/>
                          <a:cs typeface="Bricolage Grotesque 14pt Medium" pitchFamily="34" charset="-120"/>
                        </a:rPr>
                        <a:t>Notes</a:t>
                      </a:r>
                      <a:endParaRPr lang="en-US" sz="1300" dirty="0">
                        <a:latin typeface="Bricolage Grotesque 14pt Medium" charset="0"/>
                        <a:ea typeface="Bricolage Grotesque 14pt Medium" charset="0"/>
                        <a:cs typeface="Bricolage Grotesque 14pt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Avenir" pitchFamily="34" charset="0"/>
                          <a:ea typeface="Avenir" pitchFamily="34" charset="-122"/>
                          <a:cs typeface="Avenir" pitchFamily="34" charset="-120"/>
                        </a:rPr>
                        <a:t>[fill in]</a:t>
                      </a:r>
                      <a:endParaRPr lang="en-US" sz="1300" dirty="0">
                        <a:latin typeface="Avenir" charset="0"/>
                        <a:ea typeface="Avenir" charset="0"/>
                        <a:cs typeface="Aveni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fine">
      <a:dk1>
        <a:srgbClr val="26263B"/>
      </a:dk1>
      <a:lt1>
        <a:srgbClr val="FFFFFF"/>
      </a:lt1>
      <a:dk2>
        <a:srgbClr val="111827"/>
      </a:dk2>
      <a:lt2>
        <a:srgbClr val="F9FAFB"/>
      </a:lt2>
      <a:accent1>
        <a:srgbClr val="4F8975"/>
      </a:accent1>
      <a:accent2>
        <a:srgbClr val="7A8BF7"/>
      </a:accent2>
      <a:accent3>
        <a:srgbClr val="E8A58F"/>
      </a:accent3>
      <a:accent4>
        <a:srgbClr val="17414D"/>
      </a:accent4>
      <a:accent5>
        <a:srgbClr val="7FC8AF"/>
      </a:accent5>
      <a:accent6>
        <a:srgbClr val="6B7280"/>
      </a:accent6>
      <a:hlink>
        <a:srgbClr val="4F8975"/>
      </a:hlink>
      <a:folHlink>
        <a:srgbClr val="7A8BF7"/>
      </a:folHlink>
    </a:clrScheme>
    <a:fontScheme name="Office">
      <a:majorFont>
        <a:latin typeface="Bricolage Grotesqu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178</Words>
  <Application>Microsoft Macintosh PowerPoint</Application>
  <PresentationFormat>Widescreen</PresentationFormat>
  <Paragraphs>30</Paragraphs>
  <Slides>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Bricolage Grotesque 14pt Medium</vt:lpstr>
      <vt:lpstr>Arial</vt:lpstr>
      <vt:lpstr>Avenir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Dfine brand template</dc:title>
  <dc:subject>PptxGenJS Presentation</dc:subject>
  <dc:creator>Dfine</dc:creator>
  <cp:lastModifiedBy>Ran Stimpi Zabar</cp:lastModifiedBy>
  <cp:revision>2</cp:revision>
  <dcterms:created xsi:type="dcterms:W3CDTF">2026-07-16T08:46:26Z</dcterms:created>
  <dcterms:modified xsi:type="dcterms:W3CDTF">2026-07-16T11:37:54Z</dcterms:modified>
</cp:coreProperties>
</file>